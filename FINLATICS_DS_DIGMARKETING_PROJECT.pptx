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141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007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07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80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3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517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668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351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944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000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71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2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73AF435-44C8-C44B-9352-ACFA393E2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9DE08F-9E48-EA0B-4547-67F386A29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7"/>
            <a:ext cx="4358503" cy="3137941"/>
          </a:xfrm>
        </p:spPr>
        <p:txBody>
          <a:bodyPr anchor="t">
            <a:normAutofit/>
          </a:bodyPr>
          <a:lstStyle/>
          <a:p>
            <a:r>
              <a:rPr lang="en-IN" sz="6000"/>
              <a:t>FINLATICS DS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FE0EA4-18B9-0FAA-78B0-E6ECFBCF2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69641"/>
            <a:ext cx="4307405" cy="1376976"/>
          </a:xfrm>
        </p:spPr>
        <p:txBody>
          <a:bodyPr anchor="b">
            <a:normAutofit/>
          </a:bodyPr>
          <a:lstStyle/>
          <a:p>
            <a:r>
              <a:rPr lang="en-IN" dirty="0"/>
              <a:t>DIGITAL MARKETING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88058DF-7580-C88F-23F0-429412309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95" y="508090"/>
            <a:ext cx="4288568" cy="149279"/>
          </a:xfrm>
          <a:custGeom>
            <a:avLst/>
            <a:gdLst>
              <a:gd name="connsiteX0" fmla="*/ 0 w 6117427"/>
              <a:gd name="connsiteY0" fmla="*/ 0 h 149279"/>
              <a:gd name="connsiteX1" fmla="*/ 6117427 w 6117427"/>
              <a:gd name="connsiteY1" fmla="*/ 0 h 149279"/>
              <a:gd name="connsiteX2" fmla="*/ 6117427 w 6117427"/>
              <a:gd name="connsiteY2" fmla="*/ 149279 h 149279"/>
              <a:gd name="connsiteX3" fmla="*/ 0 w 611742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427" h="149279">
                <a:moveTo>
                  <a:pt x="0" y="0"/>
                </a:moveTo>
                <a:lnTo>
                  <a:pt x="6117427" y="0"/>
                </a:lnTo>
                <a:lnTo>
                  <a:pt x="611742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2943-4565-9E0E-E9DB-5B7B417E6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07749"/>
            <a:ext cx="4307405" cy="45720"/>
          </a:xfrm>
          <a:custGeom>
            <a:avLst/>
            <a:gdLst>
              <a:gd name="connsiteX0" fmla="*/ 0 w 6144298"/>
              <a:gd name="connsiteY0" fmla="*/ 0 h 45720"/>
              <a:gd name="connsiteX1" fmla="*/ 5021183 w 6144298"/>
              <a:gd name="connsiteY1" fmla="*/ 0 h 45720"/>
              <a:gd name="connsiteX2" fmla="*/ 5021183 w 6144298"/>
              <a:gd name="connsiteY2" fmla="*/ 1 h 45720"/>
              <a:gd name="connsiteX3" fmla="*/ 6144298 w 6144298"/>
              <a:gd name="connsiteY3" fmla="*/ 1 h 45720"/>
              <a:gd name="connsiteX4" fmla="*/ 6144298 w 6144298"/>
              <a:gd name="connsiteY4" fmla="*/ 45720 h 45720"/>
              <a:gd name="connsiteX5" fmla="*/ 1123115 w 6144298"/>
              <a:gd name="connsiteY5" fmla="*/ 45720 h 45720"/>
              <a:gd name="connsiteX6" fmla="*/ 1123115 w 6144298"/>
              <a:gd name="connsiteY6" fmla="*/ 45719 h 45720"/>
              <a:gd name="connsiteX7" fmla="*/ 0 w 6144298"/>
              <a:gd name="connsiteY7" fmla="*/ 45719 h 45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44298" h="45720">
                <a:moveTo>
                  <a:pt x="0" y="0"/>
                </a:moveTo>
                <a:lnTo>
                  <a:pt x="5021183" y="0"/>
                </a:lnTo>
                <a:lnTo>
                  <a:pt x="5021183" y="1"/>
                </a:lnTo>
                <a:lnTo>
                  <a:pt x="6144298" y="1"/>
                </a:lnTo>
                <a:lnTo>
                  <a:pt x="6144298" y="45720"/>
                </a:lnTo>
                <a:lnTo>
                  <a:pt x="1123115" y="45720"/>
                </a:lnTo>
                <a:lnTo>
                  <a:pt x="112311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Colorful leaf patterns">
            <a:extLst>
              <a:ext uri="{FF2B5EF4-FFF2-40B4-BE49-F238E27FC236}">
                <a16:creationId xmlns:a16="http://schemas.microsoft.com/office/drawing/2014/main" id="{EFDD971F-9D78-CD55-ED8A-88768B081C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91" r="18204" b="-1"/>
          <a:stretch>
            <a:fillRect/>
          </a:stretch>
        </p:blipFill>
        <p:spPr>
          <a:xfrm>
            <a:off x="5398477" y="508090"/>
            <a:ext cx="6271028" cy="574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53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63E68-49E1-0E2F-C38D-084FC54F0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overall trend in user engagement throughout the campaign period?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 descr="Graph between trend in user engagement throughout campaign period">
            <a:extLst>
              <a:ext uri="{FF2B5EF4-FFF2-40B4-BE49-F238E27FC236}">
                <a16:creationId xmlns:a16="http://schemas.microsoft.com/office/drawing/2014/main" id="{65005C38-99B2-A026-03A7-6D50527B3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8665"/>
            <a:ext cx="12192000" cy="347190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32DC9A-3B9E-481F-1A9A-DD5E1537E126}"/>
              </a:ext>
            </a:extLst>
          </p:cNvPr>
          <p:cNvSpPr txBox="1"/>
          <p:nvPr/>
        </p:nvSpPr>
        <p:spPr>
          <a:xfrm>
            <a:off x="521207" y="5743338"/>
            <a:ext cx="113266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engagement shows a significant overall downward trend throughout the campaign period, starting with a peak of over 80,000 total clicks in early April and steadily declining to approximately 10,000 clicks by July.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8491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26A55-F68A-F088-81A6-2265833C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the size of the ad (banner) impact the number of clicks generated?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 descr="A graph of a bar graph&#10;&#10;AI-generated content may be incorrect.">
            <a:extLst>
              <a:ext uri="{FF2B5EF4-FFF2-40B4-BE49-F238E27FC236}">
                <a16:creationId xmlns:a16="http://schemas.microsoft.com/office/drawing/2014/main" id="{4A2F34B0-615F-8C47-7CA2-42330F768D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8683"/>
            <a:ext cx="12091515" cy="354437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973014-9805-1C1A-9C38-1FAC03A90A27}"/>
              </a:ext>
            </a:extLst>
          </p:cNvPr>
          <p:cNvSpPr txBox="1"/>
          <p:nvPr/>
        </p:nvSpPr>
        <p:spPr>
          <a:xfrm>
            <a:off x="521207" y="5763056"/>
            <a:ext cx="112381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number of clicks generated varies significantly by banner size, with "</a:t>
            </a:r>
            <a:r>
              <a:rPr lang="en-US" dirty="0" err="1"/>
              <a:t>ghi</a:t>
            </a:r>
            <a:r>
              <a:rPr lang="en-US" dirty="0"/>
              <a:t>" performing best with over 1.2 million clicks and "</a:t>
            </a:r>
            <a:r>
              <a:rPr lang="en-US" dirty="0" err="1"/>
              <a:t>abc</a:t>
            </a:r>
            <a:r>
              <a:rPr lang="en-US" dirty="0"/>
              <a:t>" performing worst with nearly zero clicks based on the scale.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4023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A8861-5405-F647-9864-200492564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Which publisher spaces (placements) yielded the highest number of displays and clicks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DF343-2CB9-C2C8-64FB-2629AB9FE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974312"/>
            <a:ext cx="11155680" cy="3371624"/>
          </a:xfrm>
        </p:spPr>
        <p:txBody>
          <a:bodyPr/>
          <a:lstStyle/>
          <a:p>
            <a:r>
              <a:rPr lang="en-IN" dirty="0"/>
              <a:t>Placement type “</a:t>
            </a:r>
            <a:r>
              <a:rPr lang="en-IN" dirty="0" err="1"/>
              <a:t>mno</a:t>
            </a:r>
            <a:r>
              <a:rPr lang="en-IN" dirty="0"/>
              <a:t>” has 143161775 displays which is the highest number of displays overall.</a:t>
            </a:r>
          </a:p>
          <a:p>
            <a:r>
              <a:rPr lang="en-IN" dirty="0"/>
              <a:t>Placement type “</a:t>
            </a:r>
            <a:r>
              <a:rPr lang="en-IN" dirty="0" err="1"/>
              <a:t>ghi</a:t>
            </a:r>
            <a:r>
              <a:rPr lang="en-IN" dirty="0"/>
              <a:t>” has 1247049 clicks which is highest number of clicks overall.</a:t>
            </a:r>
          </a:p>
        </p:txBody>
      </p:sp>
    </p:spTree>
    <p:extLst>
      <p:ext uri="{BB962C8B-B14F-4D97-AF65-F5344CB8AC3E}">
        <p14:creationId xmlns:p14="http://schemas.microsoft.com/office/powerpoint/2010/main" val="1506531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F4BA3-6E94-8854-E99D-8B2F24D37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68699"/>
            <a:ext cx="11155680" cy="1489489"/>
          </a:xfrm>
        </p:spPr>
        <p:txBody>
          <a:bodyPr>
            <a:normAutofit fontScale="90000"/>
          </a:bodyPr>
          <a:lstStyle/>
          <a:p>
            <a:r>
              <a:rPr lang="en-US" dirty="0"/>
              <a:t>Is there a correlation between the cost of serving ads and the revenue generated from clicks?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7A0A274-AC27-4BBE-AE6F-BD7265095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171" y="2578100"/>
            <a:ext cx="8872694" cy="351120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966DB8-F4D2-2A1E-96B3-791CDEBDD2FA}"/>
              </a:ext>
            </a:extLst>
          </p:cNvPr>
          <p:cNvSpPr txBox="1"/>
          <p:nvPr/>
        </p:nvSpPr>
        <p:spPr>
          <a:xfrm>
            <a:off x="1139704" y="5900708"/>
            <a:ext cx="9431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a </a:t>
            </a:r>
            <a:r>
              <a:rPr lang="en-US" b="1" dirty="0"/>
              <a:t>strong positive correlation of 0.76</a:t>
            </a:r>
            <a:r>
              <a:rPr lang="en-US" dirty="0"/>
              <a:t> between the cost of serving ads and the revenue generated from clicks.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4009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426DA-8BE3-4A1D-0F01-5D14444E2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average revenue generated per click for Company X during the campaign period?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CA84D-2B6C-AAFD-9DFF-FA73DB9E6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018503"/>
            <a:ext cx="11155680" cy="56044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Average Revenue Generated per for Click Company X during the campaign period :                      					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8E2A32-A3CE-CF3F-5690-4698AE0F54D0}"/>
              </a:ext>
            </a:extLst>
          </p:cNvPr>
          <p:cNvSpPr txBox="1"/>
          <p:nvPr/>
        </p:nvSpPr>
        <p:spPr>
          <a:xfrm>
            <a:off x="3736258" y="357894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0.0929432967821166</a:t>
            </a:r>
            <a:r>
              <a:rPr lang="en-US" dirty="0"/>
              <a:t> Dollars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7107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162AE-FD80-0434-150E-04B34533D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campaigns had the highest post-click conversion rates?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3A05A-1259-BCCF-BCAB-831589418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Campaign First had the highest number of post-click conversion rates.</a:t>
            </a:r>
          </a:p>
        </p:txBody>
      </p:sp>
    </p:spTree>
    <p:extLst>
      <p:ext uri="{BB962C8B-B14F-4D97-AF65-F5344CB8AC3E}">
        <p14:creationId xmlns:p14="http://schemas.microsoft.com/office/powerpoint/2010/main" val="67459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87D77-AC5F-5A27-561C-60EF1B6A9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 there any specific trends or patterns in post-click sales amounts over time?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 descr="A graph showing a line of orange lines&#10;&#10;AI-generated content may be incorrect.">
            <a:extLst>
              <a:ext uri="{FF2B5EF4-FFF2-40B4-BE49-F238E27FC236}">
                <a16:creationId xmlns:a16="http://schemas.microsoft.com/office/drawing/2014/main" id="{917F8175-066C-D81F-D6DE-08B930FD6F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507" y="2163853"/>
            <a:ext cx="8932985" cy="340639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92DD01-F317-E248-050B-7CD4CC8B69E3}"/>
              </a:ext>
            </a:extLst>
          </p:cNvPr>
          <p:cNvSpPr txBox="1"/>
          <p:nvPr/>
        </p:nvSpPr>
        <p:spPr>
          <a:xfrm>
            <a:off x="521208" y="5570244"/>
            <a:ext cx="108547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post-click sales amount shows a volatile overall downward trend from a peak of over 550,000 in early April to a low of under 200,000 in mid-June, despite a temporary recovery in mid-May.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8088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73517-DA1C-CD8C-C099-B35218E7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the level of user engagement vary across different banner sizes?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D9289A18-FDF4-A118-EB32-99D6414600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851" y="2240782"/>
            <a:ext cx="9626320" cy="321547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02A034-6726-27DA-124B-822D84819C2F}"/>
              </a:ext>
            </a:extLst>
          </p:cNvPr>
          <p:cNvSpPr txBox="1"/>
          <p:nvPr/>
        </p:nvSpPr>
        <p:spPr>
          <a:xfrm>
            <a:off x="521208" y="5643221"/>
            <a:ext cx="103209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engagement varies significantly across banner sizes, with </a:t>
            </a:r>
            <a:r>
              <a:rPr lang="en-US" b="1" dirty="0" err="1"/>
              <a:t>ghi</a:t>
            </a:r>
            <a:r>
              <a:rPr lang="en-US" dirty="0"/>
              <a:t> and </a:t>
            </a:r>
            <a:r>
              <a:rPr lang="en-US" b="1" dirty="0" err="1"/>
              <a:t>mno</a:t>
            </a:r>
            <a:r>
              <a:rPr lang="en-US" dirty="0"/>
              <a:t> generating the highest engagement levels, while </a:t>
            </a:r>
            <a:r>
              <a:rPr lang="en-US" b="1" dirty="0"/>
              <a:t>def</a:t>
            </a:r>
            <a:r>
              <a:rPr lang="en-US" dirty="0"/>
              <a:t>, </a:t>
            </a:r>
            <a:r>
              <a:rPr lang="en-US" b="1" dirty="0" err="1"/>
              <a:t>jkl</a:t>
            </a:r>
            <a:r>
              <a:rPr lang="en-US" dirty="0"/>
              <a:t>, and </a:t>
            </a:r>
            <a:r>
              <a:rPr lang="en-US" b="1" dirty="0" err="1"/>
              <a:t>abc</a:t>
            </a:r>
            <a:r>
              <a:rPr lang="en-US" dirty="0"/>
              <a:t> show progressively lower average and total clicks.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6663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43316-0CF3-03F8-66C6-3C41D08CA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placement types result in the highest post-click conversion rates?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 descr="A graph of a graph&#10;&#10;AI-generated content may be incorrect.">
            <a:extLst>
              <a:ext uri="{FF2B5EF4-FFF2-40B4-BE49-F238E27FC236}">
                <a16:creationId xmlns:a16="http://schemas.microsoft.com/office/drawing/2014/main" id="{7C0DDD6C-5A6D-B544-7858-1A1B9CDC43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8" y="2578100"/>
            <a:ext cx="11155679" cy="330149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4754FF-381C-E143-DD21-2F2E545D64FA}"/>
              </a:ext>
            </a:extLst>
          </p:cNvPr>
          <p:cNvSpPr txBox="1"/>
          <p:nvPr/>
        </p:nvSpPr>
        <p:spPr>
          <a:xfrm>
            <a:off x="515113" y="5879592"/>
            <a:ext cx="111556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placement types </a:t>
            </a:r>
            <a:r>
              <a:rPr lang="en-US" b="1" dirty="0" err="1"/>
              <a:t>ghi</a:t>
            </a:r>
            <a:r>
              <a:rPr lang="en-US" dirty="0"/>
              <a:t> and </a:t>
            </a:r>
            <a:r>
              <a:rPr lang="en-US" b="1" dirty="0" err="1"/>
              <a:t>mno</a:t>
            </a:r>
            <a:r>
              <a:rPr lang="en-US" dirty="0"/>
              <a:t> result in the highest average post-click conversion rates, with </a:t>
            </a:r>
            <a:r>
              <a:rPr lang="en-US" b="1" dirty="0" err="1"/>
              <a:t>ghi</a:t>
            </a:r>
            <a:r>
              <a:rPr lang="en-US" dirty="0"/>
              <a:t> significantly outperforming all others at nearly 100.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4968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F447FC5-81F5-498F-B253-3D2BBDD2E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BC26C3-5179-AC54-ECF1-06CE055F5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9200" cy="237744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Can we identify any seasonal patterns or fluctuations in displays and clicks throughout the campaign period?</a:t>
            </a:r>
            <a:br>
              <a:rPr lang="en-US"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4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83D605-F0BC-4923-9BAD-8F2204285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977F53-AFB9-29E9-DB83-AFA256108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2" r="20768"/>
          <a:stretch>
            <a:fillRect/>
          </a:stretch>
        </p:blipFill>
        <p:spPr>
          <a:xfrm>
            <a:off x="6662166" y="508090"/>
            <a:ext cx="5011957" cy="2797087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1A59FC6-29E7-4618-829A-36CC011E5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3616882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aph with blue lines&#10;&#10;AI-generated content may be incorrect.">
            <a:extLst>
              <a:ext uri="{FF2B5EF4-FFF2-40B4-BE49-F238E27FC236}">
                <a16:creationId xmlns:a16="http://schemas.microsoft.com/office/drawing/2014/main" id="{23CAE8E3-C52D-A6EA-B6C1-F539F6BAB2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4" r="10758" b="-1"/>
          <a:stretch>
            <a:fillRect/>
          </a:stretch>
        </p:blipFill>
        <p:spPr>
          <a:xfrm>
            <a:off x="513802" y="3698197"/>
            <a:ext cx="5011957" cy="26478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467AA2-D00A-7F19-FD16-CF7597874910}"/>
              </a:ext>
            </a:extLst>
          </p:cNvPr>
          <p:cNvSpPr txBox="1"/>
          <p:nvPr/>
        </p:nvSpPr>
        <p:spPr>
          <a:xfrm>
            <a:off x="6665976" y="3776472"/>
            <a:ext cx="5010912" cy="2569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weekly trends for both displays and clicks show a consistent seasonal decline throughout the campaign period, characterized by an initial peak in mid-April followed by a steady downward fluctuation ending in July</a:t>
            </a:r>
          </a:p>
        </p:txBody>
      </p:sp>
    </p:spTree>
    <p:extLst>
      <p:ext uri="{BB962C8B-B14F-4D97-AF65-F5344CB8AC3E}">
        <p14:creationId xmlns:p14="http://schemas.microsoft.com/office/powerpoint/2010/main" val="2381581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0AEF-EDFE-8523-539C-CED089A3F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978408"/>
            <a:ext cx="11396137" cy="1463040"/>
          </a:xfrm>
        </p:spPr>
        <p:txBody>
          <a:bodyPr>
            <a:normAutofit fontScale="90000"/>
          </a:bodyPr>
          <a:lstStyle/>
          <a:p>
            <a:r>
              <a:rPr lang="en-US" dirty="0"/>
              <a:t>Is there a correlation between user engagement levels and the revenue generated?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29DD631-D160-9720-0D29-667FDE60DA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092" y="2196696"/>
            <a:ext cx="9686611" cy="37671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F536D7-6677-EE7D-585A-81F0DD7278EB}"/>
              </a:ext>
            </a:extLst>
          </p:cNvPr>
          <p:cNvSpPr txBox="1"/>
          <p:nvPr/>
        </p:nvSpPr>
        <p:spPr>
          <a:xfrm>
            <a:off x="521207" y="5963834"/>
            <a:ext cx="100910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a strong positive correlation of 0.84 between user engagement levels (clicks) and the revenue generated.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9452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698D-42E8-6459-30A5-E81E913B4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 there any outliers in terms of cost, clicks, or revenue that warrant further investigation?</a:t>
            </a:r>
            <a:endParaRPr lang="en-IN" dirty="0"/>
          </a:p>
        </p:txBody>
      </p:sp>
      <p:pic>
        <p:nvPicPr>
          <p:cNvPr id="5" name="Content Placeholder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070CE937-7FBF-BB07-A629-022D3E913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" y="2190542"/>
            <a:ext cx="11156950" cy="355711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C87BD6-B01F-B338-A054-48F38B849E6D}"/>
              </a:ext>
            </a:extLst>
          </p:cNvPr>
          <p:cNvSpPr txBox="1"/>
          <p:nvPr/>
        </p:nvSpPr>
        <p:spPr>
          <a:xfrm>
            <a:off x="514350" y="5747658"/>
            <a:ext cx="111625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three metrics (cost, clicks, and revenue) exhibit numerous high-value outliers far above their respective medians, with cost exceeding 500, clicks surpassing 14,000, and revenue reaching over 2,000, all of which warrant further investigation.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4940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BE9D-407F-F7B0-C4D7-DEE79E653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the effectiveness of campaigns vary based on the size of the ad and placement type?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 descr="A graph of a bar chart&#10;&#10;AI-generated content may be incorrect.">
            <a:extLst>
              <a:ext uri="{FF2B5EF4-FFF2-40B4-BE49-F238E27FC236}">
                <a16:creationId xmlns:a16="http://schemas.microsoft.com/office/drawing/2014/main" id="{5C65F129-9748-15FF-C366-2079F8509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862" y="2337663"/>
            <a:ext cx="7534276" cy="343814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415E54-DACA-1D7F-94EB-2A8A4911F9DD}"/>
              </a:ext>
            </a:extLst>
          </p:cNvPr>
          <p:cNvSpPr txBox="1"/>
          <p:nvPr/>
        </p:nvSpPr>
        <p:spPr>
          <a:xfrm>
            <a:off x="521208" y="5672022"/>
            <a:ext cx="11155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Campaign effectiveness, measured by Click-Through Rate, varies significantly by placement and ad size, with campaign 2 consistently outperforming others across all placement types and achieving its peak effectiveness at placement </a:t>
            </a:r>
            <a:r>
              <a:rPr lang="en-US" dirty="0" err="1"/>
              <a:t>ghi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6270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CF85F-CA9E-FFBC-1D40-9BDFCB217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 there any specific campaigns or banner sizes that consistently outperform others in terms of ROI?</a:t>
            </a:r>
            <a:endParaRPr lang="en-IN" dirty="0"/>
          </a:p>
        </p:txBody>
      </p:sp>
      <p:pic>
        <p:nvPicPr>
          <p:cNvPr id="5" name="Content Placeholder 4" descr="A graph of different colored rectangles&#10;&#10;AI-generated content may be incorrect.">
            <a:extLst>
              <a:ext uri="{FF2B5EF4-FFF2-40B4-BE49-F238E27FC236}">
                <a16:creationId xmlns:a16="http://schemas.microsoft.com/office/drawing/2014/main" id="{9A24E732-C687-BB49-DCA7-60782DADF6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862" y="2748922"/>
            <a:ext cx="7534276" cy="327004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80A49F-BE96-A9F7-B5D8-A22EE4285E37}"/>
              </a:ext>
            </a:extLst>
          </p:cNvPr>
          <p:cNvSpPr txBox="1"/>
          <p:nvPr/>
        </p:nvSpPr>
        <p:spPr>
          <a:xfrm>
            <a:off x="421950" y="5955859"/>
            <a:ext cx="11155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Campaign 1 consistently outperforms other campaigns in terms of ROI across most banner sizes, while the def banner size achieves the highest ROI peaks for both campaigns 1 and 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8961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609A3-64F5-EE40-6596-8DE78A366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distribution of post-click conversions across different placement types?</a:t>
            </a:r>
            <a:endParaRPr lang="en-IN" dirty="0"/>
          </a:p>
        </p:txBody>
      </p:sp>
      <p:pic>
        <p:nvPicPr>
          <p:cNvPr id="5" name="Content Placeholder 4" descr="A graph of a distribution of pests&#10;&#10;AI-generated content may be incorrect.">
            <a:extLst>
              <a:ext uri="{FF2B5EF4-FFF2-40B4-BE49-F238E27FC236}">
                <a16:creationId xmlns:a16="http://schemas.microsoft.com/office/drawing/2014/main" id="{A26BBA21-840F-1200-602B-787025324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591" y="2578100"/>
            <a:ext cx="8973178" cy="342076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2A05F6-981C-E52A-E283-B6A379FA5AD2}"/>
              </a:ext>
            </a:extLst>
          </p:cNvPr>
          <p:cNvSpPr txBox="1"/>
          <p:nvPr/>
        </p:nvSpPr>
        <p:spPr>
          <a:xfrm>
            <a:off x="402286" y="5998866"/>
            <a:ext cx="1127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Post-click conversions are concentrated near zero for most placement types, but </a:t>
            </a:r>
            <a:r>
              <a:rPr lang="en-US" dirty="0" err="1"/>
              <a:t>ghi</a:t>
            </a:r>
            <a:r>
              <a:rPr lang="en-US" dirty="0"/>
              <a:t> and </a:t>
            </a:r>
            <a:r>
              <a:rPr lang="en-US" dirty="0" err="1"/>
              <a:t>mno</a:t>
            </a:r>
            <a:r>
              <a:rPr lang="en-US" dirty="0"/>
              <a:t> exhibit a high volume of extreme outliers reaching up to 3,400 and 1,600 conversions respectively.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0899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41E4D-DBE2-2CA8-7A4C-B34F78FF8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 there any noticeable differences in user engagement levels between weekdays and weekends?</a:t>
            </a:r>
            <a:br>
              <a:rPr lang="en-IN" dirty="0"/>
            </a:br>
            <a:endParaRPr lang="en-IN" dirty="0"/>
          </a:p>
        </p:txBody>
      </p:sp>
      <p:pic>
        <p:nvPicPr>
          <p:cNvPr id="9" name="Content Placeholder 8" descr="A graph of a number of columns&#10;&#10;AI-generated content may be incorrect.">
            <a:extLst>
              <a:ext uri="{FF2B5EF4-FFF2-40B4-BE49-F238E27FC236}">
                <a16:creationId xmlns:a16="http://schemas.microsoft.com/office/drawing/2014/main" id="{5443C752-9912-6FE9-312A-8B4F4860C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88" y="2738873"/>
            <a:ext cx="10993600" cy="314072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3CB58D-53F8-5CAB-7A93-B1A18A8B5F9C}"/>
              </a:ext>
            </a:extLst>
          </p:cNvPr>
          <p:cNvSpPr txBox="1"/>
          <p:nvPr/>
        </p:nvSpPr>
        <p:spPr>
          <a:xfrm>
            <a:off x="683288" y="5715353"/>
            <a:ext cx="1099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clicks remain relatively high and stable across the week, with Wednesday, Saturday, and Sunday showing the highest levels of engagement, while Thursday and Friday experience a slight dip in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0508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BAFE4-31A7-88FD-2505-8967A00AE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the cost per click (CPC) vary across different campaigns and banner sizes?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D018AE5C-7242-4162-3B56-0C744DBFF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69" y="2190541"/>
            <a:ext cx="10887021" cy="368905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492D5A-44C7-C240-7E1E-C835066D79C3}"/>
              </a:ext>
            </a:extLst>
          </p:cNvPr>
          <p:cNvSpPr txBox="1"/>
          <p:nvPr/>
        </p:nvSpPr>
        <p:spPr>
          <a:xfrm>
            <a:off x="521208" y="5986654"/>
            <a:ext cx="111495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CPC varies significantly across categories, with Campaign 1 generally maintaining the highest costs peaking at banner size </a:t>
            </a:r>
            <a:r>
              <a:rPr lang="en-US" dirty="0" err="1"/>
              <a:t>mno</a:t>
            </a:r>
            <a:r>
              <a:rPr lang="en-US" dirty="0"/>
              <a:t> while Campaign 2 consistently achieves the lowest CPC across all banner sizes.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7300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4B376-1421-F7B9-9A4B-105F16A2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 there any campaigns or placements that are particularly cost-effective in terms of generating post-click conversions?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003C640A-A0A3-5F58-A6C2-16C214162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88" y="2853732"/>
            <a:ext cx="10993600" cy="302586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1F5F11-8A2B-406C-1EB7-D1586FDAE179}"/>
              </a:ext>
            </a:extLst>
          </p:cNvPr>
          <p:cNvSpPr txBox="1"/>
          <p:nvPr/>
        </p:nvSpPr>
        <p:spPr>
          <a:xfrm>
            <a:off x="683288" y="5968710"/>
            <a:ext cx="10993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Campaign 1 is the most cost-effective overall, particularly at placement type </a:t>
            </a:r>
            <a:r>
              <a:rPr lang="en-US" dirty="0" err="1"/>
              <a:t>abc</a:t>
            </a:r>
            <a:r>
              <a:rPr lang="en-US" dirty="0"/>
              <a:t>, where it achieves the lowest average cost per conversion of approximately 0.18.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0686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D5EE9-B595-188B-7A5F-8DBA67F6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 we identify any trends or patterns in post-click conversion rates based on the day of the week?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 descr="A graph of different colored vertical bars&#10;&#10;AI-generated content may be incorrect.">
            <a:extLst>
              <a:ext uri="{FF2B5EF4-FFF2-40B4-BE49-F238E27FC236}">
                <a16:creationId xmlns:a16="http://schemas.microsoft.com/office/drawing/2014/main" id="{E2694F15-D10D-8861-5A80-D14548430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154" y="2578100"/>
            <a:ext cx="7898003" cy="330149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AE625E-6FFD-D648-C2BC-7A7790B4B2D8}"/>
              </a:ext>
            </a:extLst>
          </p:cNvPr>
          <p:cNvSpPr txBox="1"/>
          <p:nvPr/>
        </p:nvSpPr>
        <p:spPr>
          <a:xfrm>
            <a:off x="521207" y="5879592"/>
            <a:ext cx="11155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post-click conversion rates remain relatively stable and high early in the week and on weekends, with a distinct decrease observed on Thursday and Friday.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2384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BC26-47E8-2357-B5AE-9DE7B8892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the effectiveness of campaigns vary throughout different user engagement types in terms of post-click conversions?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 descr="A graph of engagement type&#10;&#10;AI-generated content may be incorrect.">
            <a:extLst>
              <a:ext uri="{FF2B5EF4-FFF2-40B4-BE49-F238E27FC236}">
                <a16:creationId xmlns:a16="http://schemas.microsoft.com/office/drawing/2014/main" id="{D68DF732-9165-EBCC-00AA-D930DBA262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61" y="2723104"/>
            <a:ext cx="10400043" cy="315648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5E32A2-489A-BE29-BFAA-77A00D2FD5B6}"/>
              </a:ext>
            </a:extLst>
          </p:cNvPr>
          <p:cNvSpPr txBox="1"/>
          <p:nvPr/>
        </p:nvSpPr>
        <p:spPr>
          <a:xfrm>
            <a:off x="844061" y="6021465"/>
            <a:ext cx="10400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user engagement types result in a significantly higher post-click conversion rate (approaching 0.5) compared to low and medium engagement types, which both yield rates below 0.05.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0104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erial view of a highway near the ocean">
            <a:extLst>
              <a:ext uri="{FF2B5EF4-FFF2-40B4-BE49-F238E27FC236}">
                <a16:creationId xmlns:a16="http://schemas.microsoft.com/office/drawing/2014/main" id="{D0F5FF69-B7DF-3020-5955-9BDE17DABF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24" r="-1" b="13157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7B3E2DB-180D-4752-BBB6-987822D6B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944761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413451-C4BC-8B78-2F59-EAE305500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5052" y="971396"/>
            <a:ext cx="5870184" cy="28595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9321" y="508090"/>
            <a:ext cx="6114810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039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926</Words>
  <Application>Microsoft Office PowerPoint</Application>
  <PresentationFormat>Widescreen</PresentationFormat>
  <Paragraphs>45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Bierstadt</vt:lpstr>
      <vt:lpstr>GestaltVTI</vt:lpstr>
      <vt:lpstr>FINLATICS DS PROJECT</vt:lpstr>
      <vt:lpstr>What is the overall trend in user engagement throughout the campaign period? </vt:lpstr>
      <vt:lpstr>How does the size of the ad (banner) impact the number of clicks generated? </vt:lpstr>
      <vt:lpstr>Which publisher spaces (placements) yielded the highest number of displays and clicks</vt:lpstr>
      <vt:lpstr>Is there a correlation between the cost of serving ads and the revenue generated from clicks? </vt:lpstr>
      <vt:lpstr>What is the average revenue generated per click for Company X during the campaign period? </vt:lpstr>
      <vt:lpstr>Which campaigns had the highest post-click conversion rates? </vt:lpstr>
      <vt:lpstr>Are there any specific trends or patterns in post-click sales amounts over time? </vt:lpstr>
      <vt:lpstr>How does the level of user engagement vary across different banner sizes? </vt:lpstr>
      <vt:lpstr>Which placement types result in the highest post-click conversion rates? </vt:lpstr>
      <vt:lpstr>Can we identify any seasonal patterns or fluctuations in displays and clicks throughout the campaign period? </vt:lpstr>
      <vt:lpstr>Is there a correlation between user engagement levels and the revenue generated? </vt:lpstr>
      <vt:lpstr>Are there any outliers in terms of cost, clicks, or revenue that warrant further investigation?</vt:lpstr>
      <vt:lpstr>How does the effectiveness of campaigns vary based on the size of the ad and placement type? </vt:lpstr>
      <vt:lpstr>Are there any specific campaigns or banner sizes that consistently outperform others in terms of ROI?</vt:lpstr>
      <vt:lpstr>What is the distribution of post-click conversions across different placement types?</vt:lpstr>
      <vt:lpstr>Are there any noticeable differences in user engagement levels between weekdays and weekends? </vt:lpstr>
      <vt:lpstr>How does the cost per click (CPC) vary across different campaigns and banner sizes? </vt:lpstr>
      <vt:lpstr>Are there any campaigns or placements that are particularly cost-effective in terms of generating post-click conversions? </vt:lpstr>
      <vt:lpstr>Can we identify any trends or patterns in post-click conversion rates based on the day of the week? </vt:lpstr>
      <vt:lpstr>How does the effectiveness of campaigns vary throughout different user engagement types in terms of post-click conversions?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Amartya Gawali</dc:creator>
  <cp:lastModifiedBy>Amartya Gawali</cp:lastModifiedBy>
  <cp:revision>1</cp:revision>
  <dcterms:created xsi:type="dcterms:W3CDTF">2025-12-18T15:39:10Z</dcterms:created>
  <dcterms:modified xsi:type="dcterms:W3CDTF">2025-12-18T16:22:24Z</dcterms:modified>
</cp:coreProperties>
</file>